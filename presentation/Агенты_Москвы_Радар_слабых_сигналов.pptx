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376" r:id="rId13"/>
    <p:sldId id="377" r:id="rId14"/>
    <p:sldId id="378" r:id="rId15"/>
    <p:sldId id="379" r:id="rId16"/>
    <p:sldId id="380" r:id="rId17"/>
    <p:sldId id="381" r:id="rId18"/>
    <p:sldId id="382" r:id="rId19"/>
    <p:sldId id="383" r:id="rId20"/>
    <p:sldId id="384" r:id="rId21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r>
              <a:t>Радар слабых сигналов</a:t>
            </a:r>
          </a:p>
        </p:txBody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F88AFFF3-DF8C-2AA0-1E6F-AEE5FC354BA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05186" y="329801"/>
            <a:ext cx="5193299" cy="1082589"/>
          </a:xfrm>
        </p:spPr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r>
              <a:t>Команда «Агенты Москвы» · Задача №1 Газпромбанк.Тех · ЛЦТ 2026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Decision-модель Jev (согласована с экспертами Газпромбанк.Тех) за один проход отвечает вероятностями на 15 вопросов о текстах источников. Ответы — признаки нашего интерпретируемого классификатора: каждое решение раскладывается на вклады признаков.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</a:t>
            </a:r>
            <a:r>
              <a:rPr lang="ru-RU" dirty="0">
                <a:solidFill>
                  <a:schemeClr val="tx1"/>
                </a:solidFill>
              </a:rPr>
              <a:t>Сороковых Иван Евгеньевич, продакт-менеджер, ИИ-агенты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Кол-во участников: </a:t>
            </a:r>
            <a:r>
              <a:rPr lang="ru-RU" dirty="0">
                <a:solidFill>
                  <a:schemeClr val="tx1"/>
                </a:solidFill>
              </a:rPr>
              <a:t>2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Краткое описание: 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продакт по ИИ-агентам и RAG + инженер-аналитик с опытом в ML 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Иван — ИИ-агенты и цифровые продукты; Михаил — инженер НОВАТЭК (Тюмень)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Город и регион: Москва, Тюмень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endParaRPr lang="ru-RU" sz="2400" dirty="0">
              <a:solidFill>
                <a:schemeClr val="accent5"/>
              </a:solidFill>
              <a:latin typeface="+mn-lt"/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По открытому запросу сервис за 5–15 минут собирает свежие статьи, препринты, новости и сигналы разработчиков, выделяет конкретные технологии, отсекает зрелое, стандарты и хайп и выдаёт ТОП-15 ранних сигналов с уверенностью, объяснением и проверяемыми источниками.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265139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Backend, ML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Telegram: @dementevma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Инженер НОВАТЭК, офис в Тюмени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Изучает газовые месторождения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Михаил Дементьев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4607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81397" y="1816054"/>
            <a:ext cx="1722566" cy="1552901"/>
          </a:xfrm>
        </p:spPr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2886467" y="1826554"/>
            <a:ext cx="1722566" cy="1542401"/>
          </a:xfrm>
        </p:spPr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t>Команда «Агенты Москвы»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Капитан, продакт-менеджер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Telegram: @mcshpak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ИИ-агенты, RAG, мультиагентные системы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Цифровые продукты, криптовалюты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Иван Сороковых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t>История команды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Иван строит продукты на ИИ-агентах и RAG, Михаил — инженер НОВАТЭК, работает с данными газовых месторождений. Объединились на ЛЦТ: продукт + инженерный анализ данных.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Нет отрицательных примеров — собрали свои 140 и честную оценку с переносом на новую область.</a:t>
            </a:r>
            <a:r>
              <a:rPr lang="en-US" dirty="0">
                <a:solidFill>
                  <a:schemeClr val="tx1"/>
                </a:solidFill>
              </a:rPr>
              <a:t/>
            </a:r>
            <a:r>
              <a:rPr lang="ru-RU" dirty="0">
                <a:solidFill>
                  <a:schemeClr val="tx1"/>
                </a:solidFill>
              </a:rPr>
              <a:t/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Лимиты и блокировки источников, битый JSON от LLM — отказоустойчивый сбор, резервные квоты, устойчивый разбор.</a:t>
            </a:r>
            <a:r>
              <a:rPr lang="en-US" dirty="0">
                <a:solidFill>
                  <a:schemeClr val="tx1"/>
                </a:solidFill>
              </a:rPr>
              <a:t/>
            </a:r>
            <a:br>
              <a:rPr lang="en-US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/>
            </a: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Ручной поиск ранних технологий занимает дни и тонет в мейнстриме — хотели сделать его быстрым и объяснимым с decision-моделями.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7 открытых источников: arXiv, OpenAlex, GDELT, Хабр, GitHub, Hacker News, Википедия.</a:t>
            </a:r>
          </a:p>
          <a:p>
            <a:r>
              <a:rPr lang="ru-RU" sz="1400" dirty="0">
                <a:solidFill>
                  <a:schemeClr val="tx1"/>
                </a:solidFill>
              </a:rPr>
              <a:t>Кандидаты: LLM извлекает технологии из найденных текстов + статистический майнинг терминов.</a:t>
            </a:r>
          </a:p>
          <a:p>
            <a:r>
              <a:rPr lang="ru-RU" sz="1400" dirty="0">
                <a:solidFill>
                  <a:schemeClr val="tx1"/>
                </a:solidFill>
              </a:rPr>
              <a:t>Jev отвечает на 15 вопросов о доказательствах: зрелость, стандарт, хайп, новизна, продукт или технология.</a:t>
            </a:r>
          </a:p>
          <a:p>
            <a:r>
              <a:rPr lang="ru-RU" sz="1400" dirty="0">
                <a:solidFill>
                  <a:schemeClr val="tx1"/>
                </a:solidFill>
              </a:rPr>
              <a:t>Логистическая регрессия на 22 признаках: вероятность и вклад каждого признака.</a:t>
            </a:r>
          </a:p>
          <a:p>
            <a:r>
              <a:rPr lang="ru-RU" sz="1400" dirty="0">
                <a:solidFill>
                  <a:schemeClr val="tx1"/>
                </a:solidFill>
              </a:rPr>
              <a:t>Явные фильтры исключения с причиной; досье на русском только по источникам.</a:t>
            </a:r>
          </a:p>
          <a:p>
            <a:r>
              <a:rPr lang="ru-RU" sz="1400" dirty="0">
                <a:solidFill>
                  <a:schemeClr val="tx1"/>
                </a:solidFill>
              </a:rPr>
              <a:t>Python · FastAPI · PostgreSQL · React · Docker. F1 = 0,946 на датасете.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Ранний технологический радар для платформы ИИ-аналитики банка: дни ручной работы аналитика → 10 минут.</a:t>
            </a:r>
            <a:br>
              <a:rPr lang="ru-RU" sz="1400" dirty="0">
                <a:solidFill>
                  <a:schemeClr val="tx1"/>
                </a:solidFill>
              </a:rPr>
            </a:br>
            <a:r>
              <a:rPr lang="ru-RU" sz="1400" dirty="0">
                <a:solidFill>
                  <a:schemeClr val="tx1"/>
                </a:solidFill>
              </a:rPr>
              <a:t/>
            </a:r>
          </a:p>
          <a:p>
            <a:pPr marL="0" indent="0">
              <a:buNone/>
            </a:pPr>
            <a:endParaRPr lang="ru-RU" sz="1400" dirty="0">
              <a:solidFill>
                <a:schemeClr val="tx1"/>
              </a:solidFill>
            </a:endParaRPr>
          </a:p>
          <a:p>
            <a:r>
              <a:rPr lang="ru-RU" sz="1400" dirty="0">
                <a:solidFill>
                  <a:schemeClr val="tx1"/>
                </a:solidFill>
              </a:rPr>
              <a:t>Каждый сигнал с источниками, уверенностью и причинами — готово к обсуждению на техкомитете.</a:t>
            </a:r>
            <a:br>
              <a:rPr lang="ru-RU" sz="1400" dirty="0">
                <a:solidFill>
                  <a:schemeClr val="tx1"/>
                </a:solidFill>
              </a:rPr>
            </a:br>
            <a:r>
              <a:rPr lang="ru-RU" sz="1400" dirty="0">
                <a:solidFill>
                  <a:schemeClr val="tx1"/>
                </a:solidFill>
              </a:rPr>
              <a:t/>
            </a:r>
          </a:p>
          <a:p>
            <a:r>
              <a:rPr lang="ru-RU" sz="1400" dirty="0">
                <a:solidFill>
                  <a:schemeClr val="tx1"/>
                </a:solidFill>
              </a:rPr>
              <a:t>Дёшево в эксплуатации: Jev — $0,042 за 1 млн токенов; есть локальная замена Kev для закрытого контура.</a:t>
            </a:r>
            <a:br>
              <a:rPr lang="ru-RU" sz="1400" dirty="0">
                <a:solidFill>
                  <a:schemeClr val="tx1"/>
                </a:solidFill>
              </a:rPr>
            </a:br>
            <a:r>
              <a:rPr lang="ru-RU" sz="1400" dirty="0">
                <a:solidFill>
                  <a:schemeClr val="tx1"/>
                </a:solidFill>
              </a:rPr>
              <a:t/>
            </a:r>
          </a:p>
          <a:p>
            <a:r>
              <a:rPr lang="ru-RU" sz="1400" dirty="0">
                <a:solidFill>
                  <a:schemeClr val="tx1"/>
                </a:solidFill>
              </a:rPr>
              <a:t>Развитие: подписки на темы, еженедельный мониторинг, алерты, дообучение на оценках аналитиков.</a:t>
            </a:r>
            <a:br>
              <a:rPr lang="ru-RU" sz="1400" dirty="0">
                <a:solidFill>
                  <a:schemeClr val="tx1"/>
                </a:solidFill>
              </a:rPr>
            </a:br>
            <a:r>
              <a:rPr lang="ru-RU" sz="1400" dirty="0">
                <a:solidFill>
                  <a:schemeClr val="tx1"/>
                </a:solidFill>
              </a:rPr>
              <a:t/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4420000" cy="620919"/>
          </a:xfrm>
          <a:prstGeom prst="roundRect">
            <a:avLst>
              <a:gd name="adj" fmla="val 20000"/>
            </a:avLst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0000" rIns="180000"/>
          <a:lstStyle/>
          <a:p>
            <a:pPr algn="ctr"/>
            <a:r>
              <a:rPr sz="2000" b="1">
                <a:solidFill>
                  <a:srgbClr val="FFFFFF"/>
                </a:solidFill>
                <a:latin typeface="Montserrat"/>
              </a:rPr>
              <a:t>ПРОБЛЕМА И РЕШЕНИЕ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211284"/>
            <a:ext cx="3650000" cy="49894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6075" y="1461284"/>
            <a:ext cx="3150000" cy="44894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1">
                <a:solidFill>
                  <a:srgbClr val="520978"/>
                </a:solidFill>
                <a:latin typeface="Montserrat"/>
              </a:rPr>
              <a:t>Проблема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10F53"/>
                </a:solidFill>
                <a:latin typeface="Montserrat"/>
              </a:rPr>
              <a:t>• Слабые сигналы ищут вручную: дни работы аналитика.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10F53"/>
                </a:solidFill>
                <a:latin typeface="Montserrat"/>
              </a:rPr>
              <a:t>• Выдачу забивают зрелые технологии, стандарты и маркетинговые анонсы.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10F53"/>
                </a:solidFill>
                <a:latin typeface="Montserrat"/>
              </a:rPr>
              <a:t>• Выводы субъективны и не воспроизводимы.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71075" y="1211284"/>
            <a:ext cx="3650000" cy="4989492"/>
          </a:xfrm>
          <a:prstGeom prst="roundRect">
            <a:avLst>
              <a:gd name="adj" fmla="val 6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21075" y="1461284"/>
            <a:ext cx="3150000" cy="44894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Что делаем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10F53"/>
                </a:solidFill>
                <a:latin typeface="Montserrat"/>
              </a:rPr>
              <a:t>• Открытый запрос → поиск по 7 источникам RU/EN.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10F53"/>
                </a:solidFill>
                <a:latin typeface="Montserrat"/>
              </a:rPr>
              <a:t>• Jev читает доказательства и отвечает на 15 вопросов о зрелости и шуме.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10F53"/>
                </a:solidFill>
                <a:latin typeface="Montserrat"/>
              </a:rPr>
              <a:t>• Классификатор даёт вероятность и объяснение, фильтры — причину отсева.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96075" y="1211284"/>
            <a:ext cx="3650000" cy="49894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46075" y="1461284"/>
            <a:ext cx="3150000" cy="44894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1">
                <a:solidFill>
                  <a:srgbClr val="520978"/>
                </a:solidFill>
                <a:latin typeface="Montserrat"/>
              </a:rPr>
              <a:t>Результат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10F53"/>
                </a:solidFill>
                <a:latin typeface="Montserrat"/>
              </a:rPr>
              <a:t>• ТОП-15 ранних технологий с досье на русском.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10F53"/>
                </a:solidFill>
                <a:latin typeface="Montserrat"/>
              </a:rPr>
              <a:t>• Список исключённых с причинами.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10F53"/>
                </a:solidFill>
                <a:latin typeface="Montserrat"/>
              </a:rPr>
              <a:t>• Каждый источник: дата, тип, язык, уровень доверия, пометка LLM-резюме.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3990000" cy="620919"/>
          </a:xfrm>
          <a:prstGeom prst="roundRect">
            <a:avLst>
              <a:gd name="adj" fmla="val 20000"/>
            </a:avLst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0000" rIns="180000"/>
          <a:lstStyle/>
          <a:p>
            <a:pPr algn="ctr"/>
            <a:r>
              <a:rPr sz="2000" b="1">
                <a:solidFill>
                  <a:srgbClr val="FFFFFF"/>
                </a:solidFill>
                <a:latin typeface="Montserrat"/>
              </a:rPr>
              <a:t>КАК ЭТО РАБОТАЕТ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211284"/>
            <a:ext cx="11500000" cy="49894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075" y="1461284"/>
            <a:ext cx="11200000" cy="275692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6075" y="4461284"/>
            <a:ext cx="108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310F53"/>
                </a:solidFill>
                <a:latin typeface="Montserrat"/>
              </a:rPr>
              <a:t>Сбор, анализ и интерфейс разделены (collectors / pipeline / api + frontend), всё в Docker Compose с PostgreSQL.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310F53"/>
                </a:solidFill>
                <a:latin typeface="Montserrat"/>
              </a:rPr>
              <a:t>Каждое обращение к моделям журналируется: какая модель, зачем, что ответила — вкладка «Журнал моделей» на странице запроса.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310F53"/>
                </a:solidFill>
                <a:latin typeface="Montserrat"/>
              </a:rPr>
              <a:t>Выдача никогда не формируется из памяти LLM: кандидат проходит сбор доказательств, досье пишется только по найденным документам.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7000000" cy="620919"/>
          </a:xfrm>
          <a:prstGeom prst="roundRect">
            <a:avLst>
              <a:gd name="adj" fmla="val 20000"/>
            </a:avLst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0000" rIns="180000"/>
          <a:lstStyle/>
          <a:p>
            <a:pPr algn="ctr"/>
            <a:r>
              <a:rPr sz="2000" b="1">
                <a:solidFill>
                  <a:srgbClr val="FFFFFF"/>
                </a:solidFill>
                <a:latin typeface="Montserrat"/>
              </a:rPr>
              <a:t>ПОЧЕМУ JEV — НАШЕ ПРЕИМУЩЕСТВО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211284"/>
            <a:ext cx="4700000" cy="4989492"/>
          </a:xfrm>
          <a:prstGeom prst="roundRect">
            <a:avLst>
              <a:gd name="adj" fmla="val 6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6075" y="1461284"/>
            <a:ext cx="4200000" cy="44894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1">
                <a:solidFill>
                  <a:srgbClr val="520978"/>
                </a:solidFill>
                <a:latin typeface="Montserrat"/>
              </a:rPr>
              <a:t>Decision-модель вместо «спросить LLM»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310F53"/>
                </a:solidFill>
                <a:latin typeface="Montserrat"/>
              </a:rPr>
              <a:t>Jev (TypeSafe AI) не генерирует текст — возвращает калиброванные вероятности на типизированные вопросы.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310F53"/>
                </a:solidFill>
                <a:latin typeface="Montserrat"/>
              </a:rPr>
              <a:t>15 вопросов к каждому кандидату за один проход: массовое внедрение? стандарт? хайп? ранняя стадия? это продукт или класс технологий?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310F53"/>
                </a:solidFill>
                <a:latin typeface="Montserrat"/>
              </a:rPr>
              <a:t>$0,042 за 1 млн входных токенов — проверка всех кандидатов запроса стоит центы.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F0053"/>
                </a:solidFill>
                <a:latin typeface="Montserrat"/>
              </a:rPr>
              <a:t>Использование согласовано с экспертами Газпромбанк.Тех 23.09.2026. Локальная замена — открытая Kev (Apache-2.0) с тем же API.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46075" y="1211284"/>
            <a:ext cx="6600000" cy="49894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ev_vs_r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6075" y="1361284"/>
            <a:ext cx="6300000" cy="4025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96075" y="5461284"/>
            <a:ext cx="6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310F53"/>
                </a:solidFill>
                <a:latin typeface="Montserrat"/>
              </a:rPr>
              <a:t>Одинаковые доказательства и классификатор, 5-кратная кросс-валидация на 240 примерах.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5925000" cy="620919"/>
          </a:xfrm>
          <a:prstGeom prst="roundRect">
            <a:avLst>
              <a:gd name="adj" fmla="val 20000"/>
            </a:avLst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0000" rIns="180000"/>
          <a:lstStyle/>
          <a:p>
            <a:pPr algn="ctr"/>
            <a:r>
              <a:rPr sz="2000" b="1">
                <a:solidFill>
                  <a:srgbClr val="FFFFFF"/>
                </a:solidFill>
                <a:latin typeface="Montserrat"/>
              </a:rPr>
              <a:t>ИНТЕРПРЕТИРУЕМОСТЬ МОДЕЛИ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211284"/>
            <a:ext cx="6900000" cy="49894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eigh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075" y="1361284"/>
            <a:ext cx="6600000" cy="471428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446075" y="1211284"/>
            <a:ext cx="4400000" cy="4989492"/>
          </a:xfrm>
          <a:prstGeom prst="roundRect">
            <a:avLst>
              <a:gd name="adj" fmla="val 6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96075" y="1461284"/>
            <a:ext cx="3900000" cy="44894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1">
                <a:solidFill>
                  <a:srgbClr val="520978"/>
                </a:solidFill>
                <a:latin typeface="Montserrat"/>
              </a:rPr>
              <a:t>22 признака с понятным смыслом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310F53"/>
                </a:solidFill>
                <a:latin typeface="Montserrat"/>
              </a:rPr>
              <a:t>11 наблюдаемых: рост и возраст темы в OpenAlex, свежие препринты arXiv, новые репозитории GitHub, известность в Википедии.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310F53"/>
                </a:solidFill>
                <a:latin typeface="Montserrat"/>
              </a:rPr>
              <a:t>11 ответов Jev о текстах источников.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310F53"/>
                </a:solidFill>
                <a:latin typeface="Montserrat"/>
              </a:rPr>
              <a:t>Логистическая регрессия: вклад = вес × стандартизованное значение. В карточке сигнала — диаграмма «за / против».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F0053"/>
                </a:solidFill>
                <a:latin typeface="Montserrat"/>
              </a:rPr>
              <a:t>Веса хранятся в открытом JSON — модель полностью проверяема.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4850000" cy="620919"/>
          </a:xfrm>
          <a:prstGeom prst="roundRect">
            <a:avLst>
              <a:gd name="adj" fmla="val 20000"/>
            </a:avLst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0000" rIns="180000"/>
          <a:lstStyle/>
          <a:p>
            <a:pPr algn="ctr"/>
            <a:r>
              <a:rPr sz="2000" b="1">
                <a:solidFill>
                  <a:srgbClr val="FFFFFF"/>
                </a:solidFill>
                <a:latin typeface="Montserrat"/>
              </a:rPr>
              <a:t>КАЧЕСТВО НА ДАТАСЕТЕ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211284"/>
            <a:ext cx="1300000" cy="13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6075" y="1361284"/>
            <a:ext cx="118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600" b="1">
                <a:solidFill>
                  <a:srgbClr val="FF0053"/>
                </a:solidFill>
                <a:latin typeface="Montserrat"/>
              </a:rPr>
              <a:t>0,946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10F53"/>
                </a:solidFill>
                <a:latin typeface="Montserrat"/>
              </a:rPr>
              <a:t>F1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46075" y="1211284"/>
            <a:ext cx="1300000" cy="13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6075" y="1361284"/>
            <a:ext cx="118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600" b="1">
                <a:solidFill>
                  <a:srgbClr val="FF0053"/>
                </a:solidFill>
                <a:latin typeface="Montserrat"/>
              </a:rPr>
              <a:t>0,932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10F53"/>
                </a:solidFill>
                <a:latin typeface="Montserrat"/>
              </a:rPr>
              <a:t>Precision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46075" y="1211284"/>
            <a:ext cx="1300000" cy="13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6075" y="1361284"/>
            <a:ext cx="118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600" b="1">
                <a:solidFill>
                  <a:srgbClr val="FF0053"/>
                </a:solidFill>
                <a:latin typeface="Montserrat"/>
              </a:rPr>
              <a:t>0,960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10F53"/>
                </a:solidFill>
                <a:latin typeface="Montserrat"/>
              </a:rPr>
              <a:t>Recall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46075" y="1211284"/>
            <a:ext cx="1300000" cy="13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06075" y="1361284"/>
            <a:ext cx="118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600" b="1">
                <a:solidFill>
                  <a:srgbClr val="FF0053"/>
                </a:solidFill>
                <a:latin typeface="Montserrat"/>
              </a:rPr>
              <a:t>0,994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10F53"/>
                </a:solidFill>
                <a:latin typeface="Montserrat"/>
              </a:rPr>
              <a:t>ROC-AUC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6075" y="2711284"/>
            <a:ext cx="5500000" cy="3489492"/>
          </a:xfrm>
          <a:prstGeom prst="roundRect">
            <a:avLst>
              <a:gd name="adj" fmla="val 6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6075" y="2911284"/>
            <a:ext cx="5100000" cy="30894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520978"/>
                </a:solidFill>
                <a:latin typeface="Montserrat"/>
              </a:rPr>
              <a:t>Как считали — честно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10F53"/>
                </a:solidFill>
                <a:latin typeface="Montserrat"/>
              </a:rPr>
              <a:t>100 сигналов организатора + 140 наших отрицательных: зрелые технологии, стандарты, хайп, общие области.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10F53"/>
                </a:solidFill>
                <a:latin typeface="Montserrat"/>
              </a:rPr>
              <a:t>Доказательства собраны тем же кодом, что и в живом поиске, на фиксированную дату.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10F53"/>
                </a:solidFill>
                <a:latin typeface="Montserrat"/>
              </a:rPr>
              <a:t>Уверенность ≥ 75%: у 91% сигналов, точность в этой зоне 97%.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10F53"/>
                </a:solidFill>
                <a:latin typeface="Montserrat"/>
              </a:rPr>
              <a:t>Порог ТЗ 75–80% превышен.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46075" y="1211284"/>
            <a:ext cx="5800000" cy="49894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96075" y="1361284"/>
            <a:ext cx="54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520978"/>
                </a:solidFill>
                <a:latin typeface="Montserrat"/>
              </a:rPr>
              <a:t>Перенос на новую область</a:t>
            </a:r>
          </a:p>
        </p:txBody>
      </p:sp>
      <p:pic>
        <p:nvPicPr>
          <p:cNvPr id="15" name="Picture 14" descr="l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6075" y="1861284"/>
            <a:ext cx="5600000" cy="3675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7430000" cy="620919"/>
          </a:xfrm>
          <a:prstGeom prst="roundRect">
            <a:avLst>
              <a:gd name="adj" fmla="val 20000"/>
            </a:avLst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0000" rIns="180000"/>
          <a:lstStyle/>
          <a:p>
            <a:pPr algn="ctr"/>
            <a:r>
              <a:rPr sz="2000" b="1">
                <a:solidFill>
                  <a:srgbClr val="FFFFFF"/>
                </a:solidFill>
                <a:latin typeface="Montserrat"/>
              </a:rPr>
              <a:t>ОТСЕВ ЗРЕЛОГО, СТАНДАРТОВ И ШУМА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211284"/>
            <a:ext cx="11500000" cy="49894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6075" y="1411284"/>
          <a:ext cx="11100000" cy="45894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000"/>
                <a:gridCol w="4300000"/>
                <a:gridCol w="4400000"/>
              </a:tblGrid>
              <a:tr h="573686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ontserrat"/>
                        </a:rPr>
                        <a:t>Причина</a:t>
                      </a:r>
                    </a:p>
                  </a:txBody>
                  <a:tcPr>
                    <a:solidFill>
                      <a:srgbClr val="5209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ontserrat"/>
                        </a:rPr>
                        <a:t>Правило</a:t>
                      </a:r>
                    </a:p>
                  </a:txBody>
                  <a:tcPr>
                    <a:solidFill>
                      <a:srgbClr val="5209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ontserrat"/>
                        </a:rPr>
                        <a:t>Пример из живой выдачи</a:t>
                      </a:r>
                    </a:p>
                  </a:txBody>
                  <a:tcPr>
                    <a:solidFill>
                      <a:srgbClr val="520978"/>
                    </a:solidFill>
                  </a:tcPr>
                </a:tc>
              </a:tr>
              <a:tr h="57368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Montserrat"/>
                        </a:rPr>
                        <a:t>Нерелевантно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10F53"/>
                          </a:solidFill>
                          <a:latin typeface="Montserrat"/>
                        </a:rPr>
                        <a:t>релевантность запросу &lt; 0,34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10F53"/>
                          </a:solidFill>
                          <a:latin typeface="Montserrat"/>
                        </a:rPr>
                        <a:t>«Multi-agent trajectory planning» для запроса про финтех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</a:tr>
              <a:tr h="57368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Montserrat"/>
                        </a:rPr>
                        <a:t>Не инновация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10F53"/>
                          </a:solidFill>
                          <a:latin typeface="Montserrat"/>
                        </a:rPr>
                        <a:t>документ, репозиторий, явление, организация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10F53"/>
                          </a:solidFill>
                          <a:latin typeface="Montserrat"/>
                        </a:rPr>
                        <a:t>«Fintech engineering handbook», «stablecoin contagion»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368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Montserrat"/>
                        </a:rPr>
                        <a:t>Продукт / компания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10F53"/>
                          </a:solidFill>
                          <a:latin typeface="Montserrat"/>
                        </a:rPr>
                        <a:t>Jev: это название одного продукта ≥ 0,6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10F53"/>
                          </a:solidFill>
                          <a:latin typeface="Montserrat"/>
                        </a:rPr>
                        <a:t>«zLend» — приложение, а не класс технологий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</a:tr>
              <a:tr h="57368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Montserrat"/>
                        </a:rPr>
                        <a:t>Отраслевой стандарт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10F53"/>
                          </a:solidFill>
                          <a:latin typeface="Montserrat"/>
                        </a:rPr>
                        <a:t>Jev: действующий стандарт ≥ 0,6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10F53"/>
                          </a:solidFill>
                          <a:latin typeface="Montserrat"/>
                        </a:rPr>
                        <a:t>ISO 20022, OAuth 2.0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368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Montserrat"/>
                        </a:rPr>
                        <a:t>Зрелая технология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10F53"/>
                          </a:solidFill>
                          <a:latin typeface="Montserrat"/>
                        </a:rPr>
                        <a:t>массовое внедрение, рынок с лидерами, &gt; 20 000 работ, популярная статья Википедии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10F53"/>
                          </a:solidFill>
                          <a:latin typeface="Montserrat"/>
                        </a:rPr>
                        <a:t>«Quantum key distribution»: 5 800 просмотров/мес, давно в литературе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</a:tr>
              <a:tr h="57368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Montserrat"/>
                        </a:rPr>
                        <a:t>Маркетинговый шум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10F53"/>
                          </a:solidFill>
                          <a:latin typeface="Montserrat"/>
                        </a:rPr>
                        <a:t>Jev: шум ≥ 0,75 и научных источников &lt; 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10F53"/>
                          </a:solidFill>
                          <a:latin typeface="Montserrat"/>
                        </a:rPr>
                        <a:t>анонсы без технического содержания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369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Montserrat"/>
                        </a:rPr>
                        <a:t>Мало подтверждений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10F53"/>
                          </a:solidFill>
                          <a:latin typeface="Montserrat"/>
                        </a:rPr>
                        <a:t>&lt; 3 подтверждений или только блоги и пресс-релизы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10F53"/>
                          </a:solidFill>
                          <a:latin typeface="Montserrat"/>
                        </a:rPr>
                        <a:t>одиночный пресс-релиз стартапа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3345000" cy="620919"/>
          </a:xfrm>
          <a:prstGeom prst="roundRect">
            <a:avLst>
              <a:gd name="adj" fmla="val 20000"/>
            </a:avLst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0000" rIns="180000"/>
          <a:lstStyle/>
          <a:p>
            <a:pPr algn="ctr"/>
            <a:r>
              <a:rPr sz="2000" b="1">
                <a:solidFill>
                  <a:srgbClr val="FFFFFF"/>
                </a:solidFill>
                <a:latin typeface="Montserrat"/>
              </a:rPr>
              <a:t>ЖИВЫЕ ЗАПРОСЫ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211284"/>
            <a:ext cx="7200000" cy="49894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075" y="1411284"/>
            <a:ext cx="6900000" cy="400945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746075" y="1211284"/>
            <a:ext cx="4100000" cy="4989492"/>
          </a:xfrm>
          <a:prstGeom prst="roundRect">
            <a:avLst>
              <a:gd name="adj" fmla="val 6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96075" y="1461284"/>
            <a:ext cx="3650000" cy="44894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FF0053"/>
                </a:solidFill>
                <a:latin typeface="Montserrat"/>
              </a:rPr>
              <a:t>5–17 минут на запрос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10F53"/>
                </a:solidFill>
                <a:latin typeface="Montserrat"/>
              </a:rPr>
              <a:t>Требование — до 20 минут. Подготовка модели (сбор признаков для 240 примеров, ~30 мин) выполняется один раз заранее.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10F53"/>
                </a:solidFill>
                <a:latin typeface="Montserrat"/>
              </a:rPr>
              <a:t>В каждой теме — 15 сигналов, у всех уверенность ≥ 75%.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10F53"/>
                </a:solidFill>
                <a:latin typeface="Montserrat"/>
              </a:rPr>
              <a:t>Для тем датасета выдача сверяется с сигналами организатора; остальное — новые кандидаты, найденные в открытых источниках.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310F53"/>
                </a:solidFill>
                <a:latin typeface="Montserrat"/>
              </a:rPr>
              <a:t>Прогоны 24.09 на стенде разработки; стенд жюри работает на финальной модели.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4635000" cy="620919"/>
          </a:xfrm>
          <a:prstGeom prst="roundRect">
            <a:avLst>
              <a:gd name="adj" fmla="val 20000"/>
            </a:avLst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0000" rIns="180000"/>
          <a:lstStyle/>
          <a:p>
            <a:pPr algn="ctr"/>
            <a:r>
              <a:rPr sz="2000" b="1">
                <a:solidFill>
                  <a:srgbClr val="FFFFFF"/>
                </a:solidFill>
                <a:latin typeface="Montserrat"/>
              </a:rPr>
              <a:t>ИСТОЧНИКИ И ДОВЕРИЕ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211284"/>
            <a:ext cx="3650000" cy="30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6075" y="1461284"/>
            <a:ext cx="315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900" b="1">
                <a:solidFill>
                  <a:srgbClr val="520978"/>
                </a:solidFill>
                <a:latin typeface="Montserrat"/>
              </a:rPr>
              <a:t>Высокое доверие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310F53"/>
                </a:solidFill>
                <a:latin typeface="Montserrat"/>
              </a:rPr>
              <a:t>• Научные публикации (OpenAlex, DOI)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310F53"/>
                </a:solidFill>
                <a:latin typeface="Montserrat"/>
              </a:rPr>
              <a:t>• Регуляторы и международные организации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310F53"/>
                </a:solidFill>
                <a:latin typeface="Montserrat"/>
              </a:rPr>
              <a:t>• Ведущие деловые и научные издания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71075" y="1211284"/>
            <a:ext cx="3650000" cy="30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21075" y="1461284"/>
            <a:ext cx="315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900" b="1">
                <a:solidFill>
                  <a:srgbClr val="520978"/>
                </a:solidFill>
                <a:latin typeface="Montserrat"/>
              </a:rPr>
              <a:t>Среднее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310F53"/>
                </a:solidFill>
                <a:latin typeface="Montserrat"/>
              </a:rPr>
              <a:t>• Препринты arXiv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310F53"/>
                </a:solidFill>
                <a:latin typeface="Montserrat"/>
              </a:rPr>
              <a:t>• Отраслевые СМИ, Хабр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310F53"/>
                </a:solidFill>
                <a:latin typeface="Montserrat"/>
              </a:rPr>
              <a:t>• Репозитории кода GitHub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96075" y="1211284"/>
            <a:ext cx="3650000" cy="30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46075" y="1461284"/>
            <a:ext cx="315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900" b="1">
                <a:solidFill>
                  <a:srgbClr val="FF0053"/>
                </a:solidFill>
                <a:latin typeface="Montserrat"/>
              </a:rPr>
              <a:t>Пониженное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310F53"/>
                </a:solidFill>
                <a:latin typeface="Montserrat"/>
              </a:rPr>
              <a:t>• Пресс-релизы и блоги компаний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310F53"/>
                </a:solidFill>
                <a:latin typeface="Montserrat"/>
              </a:rPr>
              <a:t>• Соцсети, обсуждения сообществ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310F53"/>
                </a:solidFill>
                <a:latin typeface="Montserrat"/>
              </a:rPr>
              <a:t>• Не могут быть единственным основанием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6075" y="4411284"/>
            <a:ext cx="11500000" cy="1789492"/>
          </a:xfrm>
          <a:prstGeom prst="roundRect">
            <a:avLst>
              <a:gd name="adj" fmla="val 6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6075" y="4561284"/>
            <a:ext cx="11000000" cy="15894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10F53"/>
                </a:solidFill>
                <a:latin typeface="Montserrat"/>
              </a:rPr>
              <a:t>У каждого источника: название, ссылка, дата публикации, тип, язык оригинала, уровень доверия и критерий. Иностранные материалы — с русским резюме и пометкой «автоматическое резюме (LLM)».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10F53"/>
                </a:solidFill>
                <a:latin typeface="Montserrat"/>
              </a:rPr>
              <a:t>Отказоустойчивость: кэш, повторы, общий ограничитель частоты для всех запросов, предохранитель для недоступных источников, нейтральная подстановка признаков с пометкой в досье.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6355000" cy="620919"/>
          </a:xfrm>
          <a:prstGeom prst="roundRect">
            <a:avLst>
              <a:gd name="adj" fmla="val 20000"/>
            </a:avLst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0000" rIns="180000"/>
          <a:lstStyle/>
          <a:p>
            <a:pPr algn="ctr"/>
            <a:r>
              <a:rPr sz="2000" b="1">
                <a:solidFill>
                  <a:srgbClr val="FFFFFF"/>
                </a:solidFill>
                <a:latin typeface="Montserrat"/>
              </a:rPr>
              <a:t>ЭФФЕКТ ДЛЯ БАНКА И РАЗВИТИЕ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211284"/>
            <a:ext cx="3650000" cy="49894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6075" y="1461284"/>
            <a:ext cx="3150000" cy="44894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1">
                <a:solidFill>
                  <a:srgbClr val="520978"/>
                </a:solidFill>
                <a:latin typeface="Montserrat"/>
              </a:rPr>
              <a:t>Сейчас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10F53"/>
                </a:solidFill>
                <a:latin typeface="Montserrat"/>
              </a:rPr>
              <a:t>• Веб-стенд: запрос → ТОП-15 за 5–15 минут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10F53"/>
                </a:solidFill>
                <a:latin typeface="Montserrat"/>
              </a:rPr>
              <a:t>• Досье с источниками и объяснением уверенности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10F53"/>
                </a:solidFill>
                <a:latin typeface="Montserrat"/>
              </a:rPr>
              <a:t>• Журнал моделей для аудита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10F53"/>
                </a:solidFill>
                <a:latin typeface="Montserrat"/>
              </a:rPr>
              <a:t>• Docker: разворачивается одной командой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71075" y="1211284"/>
            <a:ext cx="3650000" cy="4989492"/>
          </a:xfrm>
          <a:prstGeom prst="roundRect">
            <a:avLst>
              <a:gd name="adj" fmla="val 6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21075" y="1461284"/>
            <a:ext cx="3150000" cy="44894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Далее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10F53"/>
                </a:solidFill>
                <a:latin typeface="Montserrat"/>
              </a:rPr>
              <a:t>• Подписки на темы и еженедельный мониторинг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10F53"/>
                </a:solidFill>
                <a:latin typeface="Montserrat"/>
              </a:rPr>
              <a:t>• Алерты о росте сигнала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10F53"/>
                </a:solidFill>
                <a:latin typeface="Montserrat"/>
              </a:rPr>
              <a:t>• Технологический радар банка: наблюдать / изучать / пилотировать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10F53"/>
                </a:solidFill>
                <a:latin typeface="Montserrat"/>
              </a:rPr>
              <a:t>• Дообучение на оценках аналитиков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96075" y="1211284"/>
            <a:ext cx="3650000" cy="49894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46075" y="1461284"/>
            <a:ext cx="3150000" cy="44894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1">
                <a:solidFill>
                  <a:srgbClr val="520978"/>
                </a:solidFill>
                <a:latin typeface="Montserrat"/>
              </a:rPr>
              <a:t>Внедрение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10F53"/>
                </a:solidFill>
                <a:latin typeface="Montserrat"/>
              </a:rPr>
              <a:t>• Интеграция в платформу ИИ-аналитики Газпромбанка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10F53"/>
                </a:solidFill>
                <a:latin typeface="Montserrat"/>
              </a:rPr>
              <a:t>• Kev локально — закрытый контур без облачных API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10F53"/>
                </a:solidFill>
                <a:latin typeface="Montserrat"/>
              </a:rPr>
              <a:t>• Экспорт отчётов для техкомитетов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10F53"/>
                </a:solidFill>
                <a:latin typeface="Montserrat"/>
              </a:rPr>
              <a:t>• Стоимость запроса — центы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6075" y="6260776"/>
            <a:ext cx="115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Montserrat"/>
              </a:rPr>
              <a:t>Стенд: http://89.169.170.106/   ·   Код: github.com/Krackenhell/lct-2026-weak-signals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Microsoft Office User</cp:lastModifiedBy>
  <cp:revision>95</cp:revision>
  <dcterms:created xsi:type="dcterms:W3CDTF">2023-05-15T07:36:23Z</dcterms:created>
  <dcterms:modified xsi:type="dcterms:W3CDTF">2026-09-14T11:14:59Z</dcterms:modified>
</cp:coreProperties>
</file>