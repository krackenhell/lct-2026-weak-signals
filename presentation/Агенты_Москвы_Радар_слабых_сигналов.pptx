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r>
              <a:t>Радар слабых сигналов</a:t>
            </a:r>
          </a:p>
        </p:txBody>
      </p:sp>
      <p:pic>
        <p:nvPicPr>
          <p:cNvPr id="4" name="Рисунок 3" descr="logo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>
            <a:fillRect/>
          </a:stretch>
        </p:blipFill>
        <p:spPr>
          <a:xfrm>
            <a:off x="420000" y="430000"/>
            <a:ext cx="4700000" cy="1000000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r>
              <a:t>Команда «АГЕНТЫ МОСКВЫ» · Задача №1 Газпромбанк.Тех · ЛЦТ 2026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2" name="Рисунок 1" descr="hero.pn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250000" y="420000"/>
            <a:ext cx="5900000" cy="2720000"/>
          </a:xfr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Decision-модель Jev (согласована с экспертами Газпромбанк.Тех) за один проход отвечает вероятностями на 15 вопросов о текстах источников. Ответы — признаки нашего интерпретируемого классификатора: каждое решение раскладывается на вклады признаков.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Сороковых Иван Евгеньевич, продакт-менеджер, ИИ-агенты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продакт по ИИ-агентам и RAG + инженер-аналитик с опытом в ML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Иван — ИИ-агенты и цифровые продукты; Михаил — инженер НОВАТЭК (Тюмень)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Москва, Тюмень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По открытому запросу сервис за 5–15 минут собирает свежие статьи, препринты, новости и сигналы разработчиков, выделяет конкретные технологии, отсекает зрелое, стандарты и хайп и выдаёт ТОП-15 ранних сигналов с уверенностью, объяснением и проверяемыми источниками.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Backend, ML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Telegram: @dementevma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Инженер НОВАТЭК, офис в Тюмени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Изучает газовые месторождения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Михаил Дементьев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АГЕНТЫ МОСКВЫ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Капитан, продакт-менеджер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Telegram: @mcshpak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ИИ-агенты, RAG, мультиагентные системы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Цифровые продукты, криптовалюты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Иван Сороковых</a:t>
            </a:r>
          </a:p>
        </p:txBody>
      </p:sp>
      <p:pic>
        <p:nvPicPr>
          <p:cNvPr id="59" name="Picture 58" descr="iv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32" y="1760000"/>
            <a:ext cx="1480000" cy="1480000"/>
          </a:xfrm>
          <a:prstGeom prst="rect">
            <a:avLst/>
          </a:prstGeom>
        </p:spPr>
      </p:pic>
      <p:pic>
        <p:nvPicPr>
          <p:cNvPr id="60" name="Picture 59" descr="mikh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7750" y="1760000"/>
            <a:ext cx="1480000" cy="1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История команды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Иван строит продукты на ИИ-агентах и RAG, Михаил — инженер НОВАТЭК, работает с данными газовых месторождений. Объединились на ЛЦТ: продукт + инженерный анализ данных.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Нет отрицательных примеров — собрали свои 140 и честную оценку с переносом на новую область.</a:t>
            </a:r>
            <a:r>
              <a:rPr lang="en-US" dirty="0">
                <a:solidFill>
                  <a:schemeClr val="tx1"/>
                </a:solidFill>
              </a:rPr>
              <a:t/>
            </a:r>
            <a:r>
              <a:rPr lang="ru-RU" dirty="0">
                <a:solidFill>
                  <a:schemeClr val="tx1"/>
                </a:solidFill>
              </a:rPr>
              <a:t/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Лимиты и блокировки источников, битый JSON от LLM — отказоустойчивый сбор, резервные квоты, устойчивый разбор.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/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Ручной поиск ранних технологий занимает дни и тонет в мейнстриме — хотели сделать его быстрым и объяснимым с decision-моделями.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7 открытых источников: arXiv, OpenAlex, GDELT, Хабр, GitHub, Hacker News, Википедия.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Кандидаты: LLM извлекает технологии из найденных текстов + статистический майнинг терминов.</a:t>
            </a:r>
          </a:p>
          <a:p>
            <a:r>
              <a:rPr lang="ru-RU" sz="1400" dirty="0">
                <a:solidFill>
                  <a:schemeClr val="tx1"/>
                </a:solidFill>
              </a:rPr>
              <a:t>Jev отвечает на 15 вопросов о доказательствах: зрелость, стандарт, хайп, новизна, продукт или технология.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Логистическая регрессия на 22 признаках: вероятность и вклад каждого признака.</a:t>
            </a:r>
          </a:p>
          <a:p>
            <a:r>
              <a:rPr lang="ru-RU" sz="1400" dirty="0">
                <a:solidFill>
                  <a:schemeClr val="tx1"/>
                </a:solidFill>
              </a:rPr>
              <a:t>Явные фильтры исключения с причиной; досье на русском только по источникам.</a:t>
            </a:r>
          </a:p>
          <a:p>
            <a:r>
              <a:rPr lang="ru-RU" sz="1400" dirty="0">
                <a:solidFill>
                  <a:schemeClr val="tx1"/>
                </a:solidFill>
              </a:rPr>
              <a:t>Python · FastAPI · PostgreSQL · React · Docker. F1 = 0,946 на датасете.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Ранний технологический радар для платформы ИИ-аналитики банка: дни ручной работы аналитика → 10 минут.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/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Каждый сигнал с источниками, уверенностью и причинами — готово к обсуждению на техкомитете.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/>
            </a:r>
          </a:p>
          <a:p>
            <a:r>
              <a:rPr lang="ru-RU" sz="1400" dirty="0">
                <a:solidFill>
                  <a:schemeClr val="tx1"/>
                </a:solidFill>
              </a:rPr>
              <a:t>Дёшево в эксплуатации: Jev — $0,042 за 1 млн токенов; есть локальная замена Kev для закрытого контура.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/>
            </a:r>
          </a:p>
          <a:p>
            <a:r>
              <a:rPr lang="ru-RU" sz="1400" dirty="0">
                <a:solidFill>
                  <a:schemeClr val="tx1"/>
                </a:solidFill>
              </a:rPr>
              <a:t>Развитие: подписки на темы, еженедельный мониторинг, алерты, дообучение на оценках аналитиков.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/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4420000" cy="620919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ПРОБЛЕМА И РЕШЕНИЕ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211284"/>
            <a:ext cx="3650000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6075" y="1461284"/>
            <a:ext cx="315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520978"/>
                </a:solidFill>
                <a:latin typeface="Montserrat"/>
              </a:rPr>
              <a:t>Проблема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Слабые сигналы ищут вручную: дни работы аналитика.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Выдачу забивают зрелые технологии, стандарты и маркетинговые анонсы.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Выводы субъективны и не воспроизводимы.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1075" y="1211284"/>
            <a:ext cx="3650000" cy="3450000"/>
          </a:xfrm>
          <a:prstGeom prst="roundRect">
            <a:avLst>
              <a:gd name="adj" fmla="val 6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1075" y="1461284"/>
            <a:ext cx="315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Что делаем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Открытый запрос → поиск по 7 источникам RU/EN.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Jev читает доказательства и отвечает на 15 вопросов о зрелости и шуме.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Классификатор даёт вероятность и объяснение, фильтры — причину отсева.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6075" y="1211284"/>
            <a:ext cx="3650000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46075" y="1461284"/>
            <a:ext cx="315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520978"/>
                </a:solidFill>
                <a:latin typeface="Montserrat"/>
              </a:rPr>
              <a:t>Результат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ТОП-15 ранних технологий с досье на русском.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Список исключённых с причинами.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Каждый источник: дата, тип, язык, уровень доверия, пометка LLM-резюме.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075" y="4811284"/>
            <a:ext cx="3650000" cy="138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075" y="4911284"/>
            <a:ext cx="3150000" cy="1289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0053"/>
                </a:solidFill>
                <a:latin typeface="Montserrat"/>
              </a:rPr>
              <a:t>15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10F53"/>
                </a:solidFill>
                <a:latin typeface="Montserrat"/>
              </a:rPr>
              <a:t>ранних технологий на запрос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1075" y="4811284"/>
            <a:ext cx="3650000" cy="1389492"/>
          </a:xfrm>
          <a:prstGeom prst="roundRect">
            <a:avLst>
              <a:gd name="adj" fmla="val 6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1075" y="4911284"/>
            <a:ext cx="3150000" cy="1289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5–17 мин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время обработки запроса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6075" y="4811284"/>
            <a:ext cx="3650000" cy="138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6075" y="4911284"/>
            <a:ext cx="3150000" cy="1289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0053"/>
                </a:solidFill>
                <a:latin typeface="Montserrat"/>
              </a:rPr>
              <a:t>7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10F53"/>
                </a:solidFill>
                <a:latin typeface="Montserrat"/>
              </a:rPr>
              <a:t>открытых источников RU / 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3990000" cy="620919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КАК ЭТО РАБОТАЕТ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211284"/>
            <a:ext cx="11500000" cy="498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75" y="1461284"/>
            <a:ext cx="11200000" cy="27569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6075" y="4461284"/>
            <a:ext cx="10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Сбор, анализ и интерфейс разделены (collectors / pipeline / api + frontend), всё в Docker Compose с PostgreSQL.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Каждое обращение к моделям журналируется: какая модель, зачем, что ответила — вкладка «Журнал моделей» на странице запроса.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Выдача никогда не формируется из памяти LLM: кандидат проходит сбор доказательств, досье пишется только по найденным документам.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7000000" cy="620919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ПОЧЕМУ JEV — НАШЕ ПРЕИМУЩЕСТВО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211284"/>
            <a:ext cx="4700000" cy="4989492"/>
          </a:xfrm>
          <a:prstGeom prst="roundRect">
            <a:avLst>
              <a:gd name="adj" fmla="val 6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6075" y="1461284"/>
            <a:ext cx="4200000" cy="4489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520978"/>
                </a:solidFill>
                <a:latin typeface="Montserrat"/>
              </a:rPr>
              <a:t>Decision-модель вместо «спросить LLM»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Jev (TypeSafe AI) не генерирует текст — возвращает калиброванные вероятности на типизированные вопросы.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15 вопросов к каждому кандидату за один проход: массовое внедрение? стандарт? хайп? ранняя стадия? это продукт или класс технологий?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$0,042 за 1 млн входных токенов — проверка всех кандидатов запроса стоит центы.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0053"/>
                </a:solidFill>
                <a:latin typeface="Montserrat"/>
              </a:rPr>
              <a:t>Использование согласовано с экспертами Газпромбанк.Тех 23.09.2026. Локальная замена — открытая Kev (Apache-2.0) с тем же API.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46075" y="1211284"/>
            <a:ext cx="6600000" cy="498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ev_vs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075" y="1361284"/>
            <a:ext cx="6300000" cy="402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96075" y="5461284"/>
            <a:ext cx="6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10F53"/>
                </a:solidFill>
                <a:latin typeface="Montserrat"/>
              </a:rPr>
              <a:t>Одинаковые доказательства и классификатор, 5-кратная кросс-валидация на 240 примерах.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5925000" cy="620919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ИНТЕРПРЕТИРУЕМОСТЬ МОДЕЛИ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211284"/>
            <a:ext cx="6900000" cy="498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75" y="1361284"/>
            <a:ext cx="6600000" cy="47142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46075" y="1211284"/>
            <a:ext cx="4400000" cy="4989492"/>
          </a:xfrm>
          <a:prstGeom prst="roundRect">
            <a:avLst>
              <a:gd name="adj" fmla="val 6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96075" y="1461284"/>
            <a:ext cx="3900000" cy="4489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520978"/>
                </a:solidFill>
                <a:latin typeface="Montserrat"/>
              </a:rPr>
              <a:t>22 признака с понятным смыслом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11 наблюдаемых: рост и возраст темы в OpenAlex, свежие препринты arXiv, новые репозитории GitHub, известность в Википедии.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11 ответов Jev о текстах источников.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Логистическая регрессия: вклад = вес × стандартизованное значение. В карточке сигнала — диаграмма «за / против».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0053"/>
                </a:solidFill>
                <a:latin typeface="Montserrat"/>
              </a:rPr>
              <a:t>Веса хранятся в открытом JSON — модель полностью проверяема.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4850000" cy="620919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КАЧЕСТВО НА ДАТАСЕТЕ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211284"/>
            <a:ext cx="1300000" cy="1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075" y="1361284"/>
            <a:ext cx="118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0,946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10F53"/>
                </a:solidFill>
                <a:latin typeface="Montserrat"/>
              </a:rPr>
              <a:t>F1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46075" y="1211284"/>
            <a:ext cx="1300000" cy="1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6075" y="1361284"/>
            <a:ext cx="118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0,932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10F53"/>
                </a:solidFill>
                <a:latin typeface="Montserrat"/>
              </a:rPr>
              <a:t>Precision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46075" y="1211284"/>
            <a:ext cx="1300000" cy="1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6075" y="1361284"/>
            <a:ext cx="118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0,960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10F53"/>
                </a:solidFill>
                <a:latin typeface="Montserrat"/>
              </a:rPr>
              <a:t>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6075" y="1211284"/>
            <a:ext cx="1300000" cy="1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6075" y="1361284"/>
            <a:ext cx="118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0053"/>
                </a:solidFill>
                <a:latin typeface="Montserrat"/>
              </a:rPr>
              <a:t>0,994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10F53"/>
                </a:solidFill>
                <a:latin typeface="Montserrat"/>
              </a:rPr>
              <a:t>ROC-AUC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075" y="2711284"/>
            <a:ext cx="5500000" cy="3489492"/>
          </a:xfrm>
          <a:prstGeom prst="roundRect">
            <a:avLst>
              <a:gd name="adj" fmla="val 6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075" y="2911284"/>
            <a:ext cx="5100000" cy="3089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520978"/>
                </a:solidFill>
                <a:latin typeface="Montserrat"/>
              </a:rPr>
              <a:t>Как считали — честно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100 сигналов организатора + 140 наших отрицательных: зрелые технологии, стандарты, хайп, общие области.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Доказательства собраны тем же кодом, что и в живом поиске, на фиксированную дату.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Уверенность ≥ 75%: у 91% сигналов, точность в этой зоне 97%.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Порог ТЗ 75–80% превышен.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Отчёт: backend/data/model/metrics.json и страница «Методология» на стенде.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6075" y="1211284"/>
            <a:ext cx="5800000" cy="498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6075" y="1361284"/>
            <a:ext cx="5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520978"/>
                </a:solidFill>
                <a:latin typeface="Montserrat"/>
              </a:rPr>
              <a:t>Перенос на новую область</a:t>
            </a:r>
          </a:p>
        </p:txBody>
      </p:sp>
      <p:pic>
        <p:nvPicPr>
          <p:cNvPr id="15" name="Picture 14" descr="l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075" y="1861284"/>
            <a:ext cx="5600000" cy="367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7430000" cy="620919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ОТСЕВ ЗРЕЛОГО, СТАНДАРТОВ И ШУМА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211284"/>
            <a:ext cx="11500000" cy="498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6075" y="1411284"/>
          <a:ext cx="11100000" cy="4589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4300000"/>
                <a:gridCol w="4400000"/>
              </a:tblGrid>
              <a:tr h="57368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Причина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Правило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Пример из живой выдачи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</a:tr>
              <a:tr h="5736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Montserrat"/>
                        </a:rPr>
                        <a:t>Нерелевантно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10F53"/>
                          </a:solidFill>
                          <a:latin typeface="Montserrat"/>
                        </a:rPr>
                        <a:t>релевантность запросу &lt; 0,34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10F53"/>
                          </a:solidFill>
                          <a:latin typeface="Montserrat"/>
                        </a:rPr>
                        <a:t>«Multi-agent trajectory planning» для запроса про финтех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</a:tr>
              <a:tr h="5736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Montserrat"/>
                        </a:rPr>
                        <a:t>Не инновация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10F53"/>
                          </a:solidFill>
                          <a:latin typeface="Montserrat"/>
                        </a:rPr>
                        <a:t>документ, репозиторий, явление, организация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10F53"/>
                          </a:solidFill>
                          <a:latin typeface="Montserrat"/>
                        </a:rPr>
                        <a:t>«Fintech engineering handbook», «stablecoin contagion»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36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Montserrat"/>
                        </a:rPr>
                        <a:t>Продукт / компания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10F53"/>
                          </a:solidFill>
                          <a:latin typeface="Montserrat"/>
                        </a:rPr>
                        <a:t>Jev: это название одного продукта ≥ 0,6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10F53"/>
                          </a:solidFill>
                          <a:latin typeface="Montserrat"/>
                        </a:rPr>
                        <a:t>«zLend» — приложение, а не класс технологий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</a:tr>
              <a:tr h="5736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Montserrat"/>
                        </a:rPr>
                        <a:t>Отраслевой стандарт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10F53"/>
                          </a:solidFill>
                          <a:latin typeface="Montserrat"/>
                        </a:rPr>
                        <a:t>Jev: действующий стандарт ≥ 0,6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10F53"/>
                          </a:solidFill>
                          <a:latin typeface="Montserrat"/>
                        </a:rPr>
                        <a:t>ISO 20022, OAuth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36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Montserrat"/>
                        </a:rPr>
                        <a:t>Зрелая технология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10F53"/>
                          </a:solidFill>
                          <a:latin typeface="Montserrat"/>
                        </a:rPr>
                        <a:t>массовое внедрение, рынок с лидерами, &gt; 20 000 работ, популярная статья Википедии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10F53"/>
                          </a:solidFill>
                          <a:latin typeface="Montserrat"/>
                        </a:rPr>
                        <a:t>«Quantum key distribution»: 5 800 просмотров/мес, давно в литературе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</a:tr>
              <a:tr h="5736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Montserrat"/>
                        </a:rPr>
                        <a:t>Маркетинговый шум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10F53"/>
                          </a:solidFill>
                          <a:latin typeface="Montserrat"/>
                        </a:rPr>
                        <a:t>Jev: шум ≥ 0,75 и научных источников &lt; 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10F53"/>
                          </a:solidFill>
                          <a:latin typeface="Montserrat"/>
                        </a:rPr>
                        <a:t>анонсы без технического содержания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36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0053"/>
                          </a:solidFill>
                          <a:latin typeface="Montserrat"/>
                        </a:rPr>
                        <a:t>Мало подтверждений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10F53"/>
                          </a:solidFill>
                          <a:latin typeface="Montserrat"/>
                        </a:rPr>
                        <a:t>&lt; 3 подтверждений или только блоги и пресс-релизы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10F53"/>
                          </a:solidFill>
                          <a:latin typeface="Montserrat"/>
                        </a:rPr>
                        <a:t>одиночный пресс-релиз стартапа</a:t>
                      </a:r>
                    </a:p>
                  </a:txBody>
                  <a:tcPr>
                    <a:solidFill>
                      <a:srgbClr val="F3EF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3345000" cy="620919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ЖИВЫЕ ЗАПРОСЫ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211284"/>
            <a:ext cx="7200000" cy="498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75" y="1411284"/>
            <a:ext cx="6900000" cy="400945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46075" y="1211284"/>
            <a:ext cx="4100000" cy="4989492"/>
          </a:xfrm>
          <a:prstGeom prst="roundRect">
            <a:avLst>
              <a:gd name="adj" fmla="val 6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96075" y="1461284"/>
            <a:ext cx="3650000" cy="4489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FF0053"/>
                </a:solidFill>
                <a:latin typeface="Montserrat"/>
              </a:rPr>
              <a:t>5–17 минут на запрос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10F53"/>
                </a:solidFill>
                <a:latin typeface="Montserrat"/>
              </a:rPr>
              <a:t>Требование — до 20 минут. Подготовка модели (сбор признаков для 240 примеров, ~30 мин) выполняется один раз заранее.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10F53"/>
                </a:solidFill>
                <a:latin typeface="Montserrat"/>
              </a:rPr>
              <a:t>В каждой теме — 15 сигналов, у всех уверенность ≥ 75%.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10F53"/>
                </a:solidFill>
                <a:latin typeface="Montserrat"/>
              </a:rPr>
              <a:t>Для тем датасета выдача сверяется с сигналами организатора; остальное — новые кандидаты, найденные в открытых источниках.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10F53"/>
                </a:solidFill>
                <a:latin typeface="Montserrat"/>
              </a:rPr>
              <a:t>Прогоны 24.09 на стенде разработки; стенд жюри работает на финальной модели.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4635000" cy="620919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ИСТОЧНИКИ И ДОВЕРИЕ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211284"/>
            <a:ext cx="36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6075" y="1461284"/>
            <a:ext cx="315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520978"/>
                </a:solidFill>
                <a:latin typeface="Montserrat"/>
              </a:rPr>
              <a:t>Высокое доверие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• Научные публикации (OpenAlex, DOI)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• Регуляторы и международные организации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• Ведущие деловые и научные издания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1075" y="1211284"/>
            <a:ext cx="36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1075" y="1461284"/>
            <a:ext cx="315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520978"/>
                </a:solidFill>
                <a:latin typeface="Montserrat"/>
              </a:rPr>
              <a:t>Среднее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• Препринты arXiv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• Отраслевые СМИ, Хабр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• Репозитории кода 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6075" y="1211284"/>
            <a:ext cx="3650000" cy="2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46075" y="1461284"/>
            <a:ext cx="315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FF0053"/>
                </a:solidFill>
                <a:latin typeface="Montserrat"/>
              </a:rPr>
              <a:t>Пониженное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• Пресс-релизы и блоги компаний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• Соцсети, обсуждения сообществ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• Не могут быть единственным основанием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075" y="3911284"/>
            <a:ext cx="11500000" cy="2289492"/>
          </a:xfrm>
          <a:prstGeom prst="roundRect">
            <a:avLst>
              <a:gd name="adj" fmla="val 6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075" y="4111284"/>
            <a:ext cx="10900000" cy="1989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520978"/>
                </a:solidFill>
                <a:latin typeface="Montserrat"/>
              </a:rPr>
              <a:t>Проверяемость каждого вывода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У каждого источника: название, ссылка, дата публикации, тип, язык оригинала, уровень доверия и критерий. Иностранные материалы — с русским резюме и пометкой «автоматическое резюме (LLM)».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Отказоустойчивость: кэш, повторы, общий ограничитель частоты для всех запросов, предохранитель для недоступных источников, нейтральная подстановка признаков с пометкой в досье.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10F53"/>
                </a:solidFill>
                <a:latin typeface="Montserrat"/>
              </a:rPr>
              <a:t>Журнал моделей: для каждого обращения к Jev и GigaChat видно, что спросили и что ответили.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6075" y="324562"/>
            <a:ext cx="6355000" cy="620919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ЭФФЕКТ ДЛЯ БАНКА И РАЗВИТИЕ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075" y="1211284"/>
            <a:ext cx="3650000" cy="3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6075" y="1461284"/>
            <a:ext cx="315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520978"/>
                </a:solidFill>
                <a:latin typeface="Montserrat"/>
              </a:rPr>
              <a:t>Сейчас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Веб-стенд: запрос → ТОП-15 за 5–15 минут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Досье с источниками и объяснением уверенности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Журнал моделей для аудита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Docker: разворачивается одной командой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1075" y="1211284"/>
            <a:ext cx="3650000" cy="3700000"/>
          </a:xfrm>
          <a:prstGeom prst="roundRect">
            <a:avLst>
              <a:gd name="adj" fmla="val 6000"/>
            </a:avLst>
          </a:prstGeom>
          <a:solidFill>
            <a:srgbClr val="F3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1075" y="1461284"/>
            <a:ext cx="315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FF0053"/>
                </a:solidFill>
                <a:latin typeface="Montserrat"/>
              </a:rPr>
              <a:t>Далее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Подписки на темы и еженедельный мониторинг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Алерты о росте сигнала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Технологический радар банка: наблюдать / изучать / пилотировать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Дообучение на оценках аналитиков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6075" y="1211284"/>
            <a:ext cx="3650000" cy="3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46075" y="1461284"/>
            <a:ext cx="315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520978"/>
                </a:solidFill>
                <a:latin typeface="Montserrat"/>
              </a:rPr>
              <a:t>Внедрение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Интеграция в платформу ИИ-аналитики Газпромбанка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Kev локально — закрытый контур без облачных API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Экспорт отчётов для техкомитетов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310F53"/>
                </a:solidFill>
                <a:latin typeface="Montserrat"/>
              </a:rPr>
              <a:t>• Стоимость запроса — центы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075" y="5061284"/>
            <a:ext cx="11500000" cy="850000"/>
          </a:xfrm>
          <a:prstGeom prst="roundRect">
            <a:avLst>
              <a:gd name="adj" fmla="val 6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075" y="5141284"/>
            <a:ext cx="10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ontserrat"/>
              </a:rPr>
              <a:t>От дней ручного поиска — к 10 минутам: ранние сигналы с доказательствами для техкомитета банка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075" y="6260776"/>
            <a:ext cx="1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Стенд: http://77.239.111.137:8080/   ·   Код: github.com/Krackenhell/lct-2026-weak-signals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